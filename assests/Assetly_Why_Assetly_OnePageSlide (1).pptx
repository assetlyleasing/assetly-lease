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Assetly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Lease vs. Loan vs. Outright Purchase — the complete case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70432"/>
          <a:ext cx="5989320" cy="1691640"/>
        </p:xfrm>
        <a:graphic>
          <a:graphicData uri="http://schemas.openxmlformats.org/drawingml/2006/table">
            <a:tbl>
              <a:tblPr/>
              <a:tblGrid>
                <a:gridCol w="1874520"/>
                <a:gridCol w="1371600"/>
                <a:gridCol w="1371600"/>
                <a:gridCol w="1371600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Upfront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10–25%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upfront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obsolescence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Assetly bears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bear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bear 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treatment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rental deductible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+ interest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Leverage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Raises Debt/Equity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6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Drains cash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29400" y="111556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Assetly specifically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29400" y="1426464"/>
            <a:ext cx="2487168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8" name="Shape 5"/>
          <p:cNvSpPr/>
          <p:nvPr/>
        </p:nvSpPr>
        <p:spPr>
          <a:xfrm>
            <a:off x="6757416" y="16184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6757416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59752" y="1426464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structuring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262872" y="1426464"/>
            <a:ext cx="2487168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9390888" y="161848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9390888" y="1618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793224" y="1426464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turnaround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29400" y="2249424"/>
            <a:ext cx="2487168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16" name="Shape 13"/>
          <p:cNvSpPr/>
          <p:nvPr/>
        </p:nvSpPr>
        <p:spPr>
          <a:xfrm>
            <a:off x="6757416" y="24414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6757416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59752" y="2249424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Multi-sector expertise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262872" y="2249424"/>
            <a:ext cx="2487168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20" name="Shape 17"/>
          <p:cNvSpPr/>
          <p:nvPr/>
        </p:nvSpPr>
        <p:spPr>
          <a:xfrm>
            <a:off x="9390888" y="244144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939088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793224" y="2249424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funding partners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27523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case for Operating Lease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480" y="3063240"/>
            <a:ext cx="3639312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25" name="Shape 22"/>
          <p:cNvSpPr/>
          <p:nvPr/>
        </p:nvSpPr>
        <p:spPr>
          <a:xfrm>
            <a:off x="576072" y="320954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26" name="Text 23"/>
          <p:cNvSpPr/>
          <p:nvPr/>
        </p:nvSpPr>
        <p:spPr>
          <a:xfrm>
            <a:off x="576072" y="3209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4360" y="3593592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working capital — no large upfront outlay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rental — no floating-rate risk like a loan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Assetly bears resale/obsolescence risk, not you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33672" y="3063240"/>
            <a:ext cx="3639312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29" name="Shape 26"/>
          <p:cNvSpPr/>
          <p:nvPr/>
        </p:nvSpPr>
        <p:spPr>
          <a:xfrm>
            <a:off x="4398264" y="320954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BF9000"/>
          </a:solidFill>
          <a:ln/>
        </p:spPr>
      </p:sp>
      <p:sp>
        <p:nvSpPr>
          <p:cNvPr id="30" name="Text 27"/>
          <p:cNvSpPr/>
          <p:nvPr/>
        </p:nvSpPr>
        <p:spPr>
          <a:xfrm>
            <a:off x="4398264" y="3209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416552" y="3593592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rental deductible, uncapped by depreciation block rates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180-day usage restriction on the deduction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input credit still applies, same as loan/purchase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055864" y="3063240"/>
            <a:ext cx="3639312" cy="2057400"/>
          </a:xfrm>
          <a:prstGeom prst="roundRect">
            <a:avLst>
              <a:gd name="adj" fmla="val 3556"/>
            </a:avLst>
          </a:prstGeom>
          <a:solidFill>
            <a:srgbClr val="EEF3FC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0456" y="320954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1E2761"/>
          </a:solidFill>
          <a:ln/>
        </p:spPr>
      </p:sp>
      <p:sp>
        <p:nvSpPr>
          <p:cNvPr id="34" name="Text 31"/>
          <p:cNvSpPr/>
          <p:nvPr/>
        </p:nvSpPr>
        <p:spPr>
          <a:xfrm>
            <a:off x="8220456" y="320954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238744" y="3593592"/>
            <a:ext cx="32735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bank credit lines &amp; collateral capacity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impact on Debt/Equity &amp; Debt/EBITDA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26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credit rating vs. loan-funded purchase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11480" y="5349240"/>
            <a:ext cx="11365992" cy="914400"/>
          </a:xfrm>
          <a:prstGeom prst="roundRect">
            <a:avLst>
              <a:gd name="adj" fmla="val 9000"/>
            </a:avLst>
          </a:prstGeom>
          <a:solidFill>
            <a:srgbClr val="1E2761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5422392"/>
            <a:ext cx="3788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548640" y="5806440"/>
            <a:ext cx="35143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cash vs. 10–25% (loan) / 100% (purchase)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200144" y="5422392"/>
            <a:ext cx="3788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4337304" y="5806440"/>
            <a:ext cx="35143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rental is tax-deductible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7988808" y="5422392"/>
            <a:ext cx="3788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F9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Minimal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8125968" y="5806440"/>
            <a:ext cx="35143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Debt/Equity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1480" y="6382512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Operating Lease with Assetly to preserve cash, minimise risk, and keep your balance sheet light — talk to your relationship manager to structure your plan.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2026-07-30T09:56:13Z</dcterms:created>
  <dcterms:modified xsi:type="dcterms:W3CDTF">2026-07-30T09:56:13Z</dcterms:modified>
</cp:coreProperties>
</file>